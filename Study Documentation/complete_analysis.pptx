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57" r:id="rId4"/>
    <p:sldId id="258" r:id="rId5"/>
    <p:sldId id="274" r:id="rId6"/>
    <p:sldId id="276" r:id="rId7"/>
    <p:sldId id="277" r:id="rId8"/>
    <p:sldId id="260" r:id="rId9"/>
    <p:sldId id="261" r:id="rId10"/>
    <p:sldId id="262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Data for Pressure Head (3.5mm) Validation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275221"/>
              </p:ext>
            </p:extLst>
          </p:nvPr>
        </p:nvGraphicFramePr>
        <p:xfrm>
          <a:off x="360348" y="2057400"/>
          <a:ext cx="83058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/>
                <a:gridCol w="2768600"/>
                <a:gridCol w="27686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 8mm Tip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3.5 mm Tip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Without Correction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With</a:t>
                      </a:r>
                      <a:r>
                        <a:rPr lang="en-US" baseline="0" dirty="0" smtClean="0"/>
                        <a:t> Correction (*5.22)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9.396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9.396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9.396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9.396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8.352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8.352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6.264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7.83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7.308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7.83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2748" y="9906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 Used 8mm and 3.5 mm pressure head two measure hardness of Apples</a:t>
            </a:r>
            <a:endParaRPr lang="en-US" dirty="0" smtClean="0"/>
          </a:p>
          <a:p>
            <a:r>
              <a:rPr lang="en-US" dirty="0" smtClean="0">
                <a:sym typeface="Wingdings" panose="05000000000000000000" pitchFamily="2" charset="2"/>
              </a:rPr>
              <a:t> </a:t>
            </a:r>
            <a:r>
              <a:rPr lang="en-US" dirty="0" smtClean="0"/>
              <a:t>5 </a:t>
            </a:r>
            <a:r>
              <a:rPr lang="en-US" dirty="0" smtClean="0"/>
              <a:t>Apples ( 2 samples from each)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4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ANOVA (Single Factor)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Hypothesis:</a:t>
                </a: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Null: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𝐴𝑙𝑙</m:t>
                    </m:r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𝑚𝑒𝑎𝑛𝑠</m:t>
                    </m:r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𝑎𝑟𝑒</m:t>
                    </m:r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𝑠𝑖𝑚𝑖𝑙𝑎𝑟</m:t>
                    </m:r>
                    <m:r>
                      <a:rPr lang="en-US" sz="1800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8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𝑚𝑚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3.5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𝑚𝑚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Alternative: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𝑁𝑜𝑡</m:t>
                    </m:r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𝑎𝑙𝑙</m:t>
                    </m:r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𝑚𝑒𝑎𝑛𝑠</m:t>
                    </m:r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𝑎𝑟𝑒</m:t>
                    </m:r>
                    <m:r>
                      <a:rPr lang="en-US" sz="1800" b="0" i="1" smtClean="0">
                        <a:latin typeface="Cambria Math"/>
                      </a:rPr>
                      <m:t> </m:t>
                    </m:r>
                    <m:r>
                      <a:rPr lang="en-US" sz="1800" b="0" i="1" smtClean="0">
                        <a:latin typeface="Cambria Math"/>
                      </a:rPr>
                      <m:t>𝑠𝑖𝑚𝑖𝑙𝑎𝑟</m:t>
                    </m:r>
                  </m:oMath>
                </a14:m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ANOVA Table:</a:t>
                </a:r>
              </a:p>
              <a:p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F-value=.03 </a:t>
                </a: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P-value=.8664</a:t>
                </a:r>
              </a:p>
              <a:p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p-value is greater than any typical values of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( .01,.05,.10,.20)</m:t>
                    </m:r>
                  </m:oMath>
                </a14:m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can not reject the Null Hypothesis. </a:t>
                </a:r>
                <a:r>
                  <a:rPr lang="en-US" sz="1800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no significant difference between 8mm and 3.5mm readings.</a:t>
                </a:r>
                <a:endParaRPr lang="en-US" sz="1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11763"/>
              </a:xfrm>
              <a:blipFill rotWithShape="1">
                <a:blip r:embed="rId2"/>
                <a:stretch>
                  <a:fillRect l="-593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:\Delwar\chewing strength\anova_t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12583"/>
            <a:ext cx="4572000" cy="134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Delwar\chewing strength\bo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00200"/>
            <a:ext cx="32766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30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Chewing Strength Study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Recruited 4 participants.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bites from three participants, 9 bites from one participant. Total 39 bites.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Took hardness using penetrometer (3.5mm for carrot, 8mm for Apple and 11mm for Banana) before serving.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1: Apple, Banana, Carrot</a:t>
            </a:r>
          </a:p>
          <a:p>
            <a:pPr marL="0" indent="0" algn="ctr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2: Banana, Apple, carrot</a:t>
            </a:r>
          </a:p>
          <a:p>
            <a:pPr marL="0" indent="0" algn="ctr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3: Carrot, Banana, Apple </a:t>
            </a:r>
          </a:p>
          <a:p>
            <a:pPr marL="0" indent="0" algn="ctr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4: Carrot, Apple, Banana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2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Hardness Measurement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989085"/>
              </p:ext>
            </p:extLst>
          </p:nvPr>
        </p:nvGraphicFramePr>
        <p:xfrm>
          <a:off x="533400" y="990600"/>
          <a:ext cx="834644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802640"/>
              </a:tblGrid>
              <a:tr h="457200"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 ID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  <a:r>
                        <a:rPr lang="en-US" sz="9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 2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</a:t>
                      </a:r>
                      <a:r>
                        <a:rPr lang="en-US" sz="9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2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3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</a:t>
                      </a:r>
                      <a:r>
                        <a:rPr lang="en-US" sz="9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2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3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</a:t>
                      </a:r>
                      <a:r>
                        <a:rPr lang="en-US" sz="9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2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8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1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2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37.58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8.133±.3055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36.6267±. 1.7147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1.3000±. 0.1414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1.65±. .2121</a:t>
                      </a:r>
                    </a:p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37.58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33.93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38.63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7.9333±.3055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36.1133±. 2.3677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1.3500±. 0.2121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1.3±. .1414</a:t>
                      </a:r>
                    </a:p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Day-2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37.58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7.6000±. 0.2000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36.8867±. 0.6004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0.9000±. 0.1414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1.05±. .2121</a:t>
                      </a:r>
                    </a:p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36.496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33.408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39.15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7.5000±. 0.3000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36.3513±. 2.8737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1±. .2828</a:t>
                      </a:r>
                    </a:p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.95±. 0707</a:t>
                      </a:r>
                    </a:p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706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ANOVA Analysis for measured Hardness (Apple)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No variation of hardness within subjects for apple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of hardness within subjects for apple</a:t>
            </a:r>
          </a:p>
          <a:p>
            <a:endParaRPr lang="en-US" dirty="0"/>
          </a:p>
        </p:txBody>
      </p:sp>
      <p:pic>
        <p:nvPicPr>
          <p:cNvPr id="12290" name="Picture 2" descr="C:\Delwar\chewing strength\pilot_data\app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753313"/>
            <a:ext cx="34544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Delwar\chewing strength\pilot_data\apple_ano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40" y="1771116"/>
            <a:ext cx="37338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85800" y="4159447"/>
                <a:ext cx="4419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P-value= .0802</a:t>
                </a:r>
              </a:p>
              <a:p>
                <a:r>
                  <a:rPr lang="en-US" dirty="0" smtClean="0"/>
                  <a:t>Do not reject Null Hypothesis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=.05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159447"/>
                <a:ext cx="441960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241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90600" y="52578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With 95% confidence, there is enough evidence, that there is no significant variation of hardness of Apples served to the subjects 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5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ANOVA Analysis for measured Hardness (Carrot)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No variation of hardness within subjects for carrot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of hardness within subjects for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carrot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2290" name="Picture 2" descr="C:\Delwar\chewing strength\pilot_data\app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753313"/>
            <a:ext cx="34544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85800" y="4159447"/>
                <a:ext cx="8001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P-value= .9698</a:t>
                </a:r>
              </a:p>
              <a:p>
                <a:r>
                  <a:rPr lang="en-US" dirty="0" smtClean="0"/>
                  <a:t>Do not reject Null Hypothesis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𝑎𝑛𝑦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𝑡𝑦𝑝𝑖𝑐𝑎𝑙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𝑣𝑎𝑙𝑢𝑒𝑠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(.01,.05,.10)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159447"/>
                <a:ext cx="800100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68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19983" y="51816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With 95% confidence, there is enough evidence, that there is no significant variation of hardness of Carrot served to the subjects 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3314" name="Picture 2" descr="C:\Delwar\chewing strength\pilot_data\carrot_an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67" y="1981200"/>
            <a:ext cx="403860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1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ANOVA Analysis for measured  Hardness (Banana)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No variation of hardness within subjects for banana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of hardness within subjects for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banana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85800" y="4159447"/>
                <a:ext cx="8001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P-value= .0052</a:t>
                </a:r>
              </a:p>
              <a:p>
                <a:r>
                  <a:rPr lang="en-US" dirty="0" smtClean="0"/>
                  <a:t>reject Null Hypothesis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𝑎𝑛𝑦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𝑡𝑦𝑝𝑖𝑐𝑎𝑙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𝑣𝑎𝑙𝑢𝑒𝑠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(.01,.05,.10)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159447"/>
                <a:ext cx="8001000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68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19983" y="51816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With 95% confidence, there is enough evidence, that there is  significant variation of hardness of banana served to the subjects 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4338" name="Picture 2" descr="C:\Delwar\chewing strength\pilot_data\ano_banan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36" y="1836634"/>
            <a:ext cx="3581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C:\Delwar\chewing strength\pilot_data\banana_bo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00200"/>
            <a:ext cx="317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5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EMG Sensor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6200"/>
            <a:ext cx="8229600" cy="5364163"/>
          </a:xfrm>
        </p:spPr>
        <p:txBody>
          <a:bodyPr>
            <a:normAutofit/>
          </a:bodyPr>
          <a:lstStyle/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was normalized between [0,1]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5 chews of each bite for different food was truncated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  bites from 4 participant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Observation ( standard deviation)=39</a:t>
            </a:r>
          </a:p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Carrot and Apple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Carrot and Banana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Apple and Banana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Delwar\chewing strength\pilot_data\delwar\emg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062" y="3546727"/>
            <a:ext cx="3140460" cy="235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Delwar\chewing strength\pilot_data\delwar\emg\norm_r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429000"/>
            <a:ext cx="4904787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95400" y="6191428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Normalized EMG response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97908" y="6127676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Truncated first five chews for a bite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5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EMG Test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5364163"/>
          </a:xfrm>
        </p:spPr>
        <p:txBody>
          <a:bodyPr>
            <a:norm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Test between Carrot and Apple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 Standard deviation for carrot and apple is same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 Carrot has higher standard deviation than apple.</a:t>
            </a: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877956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3.7587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2.8689e-04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34.8957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8.9430e-31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28.2168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2.1362e-27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0877956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3.7587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2.8689e-04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140984" b="-188525"/>
                          </a:stretch>
                        </a:blipFill>
                      </a:tcPr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34.8957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8.9430e-31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272222" b="-11296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28.2168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2.1362e-27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32950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295400" y="6292334"/>
                <a:ext cx="739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50"/>
                    </a:solidFill>
                  </a:rPr>
                  <a:t>Enough evidence for all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</a:rPr>
                  <a:t>, 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Carrot_std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Apple_std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Banana_std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 </a:t>
                </a:r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6292334"/>
                <a:ext cx="73914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4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C:\Delwar\chewing strength\pilot_data\delwar\emg\box_fina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71593"/>
            <a:ext cx="32512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Delwar\chewing strength\pilot_data\delwar\emg\std_var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69457"/>
            <a:ext cx="31496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57955" y="4031657"/>
            <a:ext cx="312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standard deviation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91100" y="4045557"/>
            <a:ext cx="3924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Box plot of standard deviation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EMG ANOVA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5440363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Mean of standard deviation is equal for each fruit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At least one mean are different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3400" y="1447800"/>
                <a:ext cx="4572000" cy="1210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P-value=1.765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𝟓𝟔</m:t>
                        </m:r>
                      </m:sup>
                    </m:sSup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𝒐</m:t>
                        </m:r>
                      </m:sub>
                    </m:sSub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𝒇𝒐𝒓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𝒂𝒏𝒚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difference between the groups.</a:t>
                </a:r>
              </a:p>
              <a:p>
                <a:endParaRPr lang="en-US" b="1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447800"/>
                <a:ext cx="4572000" cy="1210652"/>
              </a:xfrm>
              <a:prstGeom prst="rect">
                <a:avLst/>
              </a:prstGeom>
              <a:blipFill rotWithShape="1">
                <a:blip r:embed="rId2"/>
                <a:stretch>
                  <a:fillRect l="-1200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297809"/>
              </p:ext>
            </p:extLst>
          </p:nvPr>
        </p:nvGraphicFramePr>
        <p:xfrm>
          <a:off x="4191000" y="3352800"/>
          <a:ext cx="4419600" cy="164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711200"/>
                <a:gridCol w="762000"/>
                <a:gridCol w="736600"/>
                <a:gridCol w="736600"/>
                <a:gridCol w="7366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bound of CI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r>
                        <a:rPr lang="en-US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difference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 bound of CI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0.0062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.0100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0.0424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0.0462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0.0501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0.0362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0.0439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4968" y="55626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P-values are small (less than .01) . Confidence interval do not include zero, also both lower bound and upper bound is positive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Enough evidence to deduce </a:t>
            </a:r>
            <a:r>
              <a:rPr lang="en-US" b="1" dirty="0" err="1" smtClean="0">
                <a:solidFill>
                  <a:srgbClr val="00B050"/>
                </a:solidFill>
              </a:rPr>
              <a:t>Carrot_std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b="1" dirty="0" err="1" smtClean="0">
                <a:solidFill>
                  <a:srgbClr val="00B050"/>
                </a:solidFill>
              </a:rPr>
              <a:t>Apple_std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b="1" dirty="0" err="1" smtClean="0">
                <a:solidFill>
                  <a:srgbClr val="00B050"/>
                </a:solidFill>
              </a:rPr>
              <a:t>Banana_std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2053" name="Picture 5" descr="C:\Delwar\chewing strength\pilot_data\delwar\emg\anov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249" y="1066800"/>
            <a:ext cx="3614146" cy="147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Delwar\chewing strength\pilot_data\delwar\emg\comp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22915"/>
            <a:ext cx="289560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33400" y="2819400"/>
            <a:ext cx="81889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can perform multiple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comparison(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kramer-tukey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which group differs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48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Flex Sensor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820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was normalized between [0,1]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5 chews of each bite for different food was truncated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  bites from 4 participant.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Observation ( standard deviation)=39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Carrot and Apple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Carrot and Banana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Apple and Banana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6468426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Normalized flex sensor response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57800" y="6425697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Truncated first five chews for a bite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C:\Delwar\chewing strength\pilot_data\delwar\flex\che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836349"/>
            <a:ext cx="3172413" cy="237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Delwar\chewing strength\pilot_data\delwar\flex\norm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66675"/>
            <a:ext cx="4257675" cy="224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03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Flex Sensor Test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5364163"/>
          </a:xfrm>
        </p:spPr>
        <p:txBody>
          <a:bodyPr>
            <a:norm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Test between Carrot and Apple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 Standard deviation for carrot and apple is same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 Carrot has higher standard deviation than apple.</a:t>
            </a: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013648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8.0434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4.9972e-10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19.3421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1.4408e-21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20.7380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1.2755e-22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013648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8.0434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4.9972e-10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140984" b="-188525"/>
                          </a:stretch>
                        </a:blipFill>
                      </a:tcPr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19.3421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1.4408e-21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272222" b="-11296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20.7380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1.2755e-22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32950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295400" y="6325805"/>
                <a:ext cx="739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50"/>
                    </a:solidFill>
                  </a:rPr>
                  <a:t>Enough evidence for all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</a:rPr>
                  <a:t>, 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Carrot_std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Apple_std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Banana_std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 </a:t>
                </a:r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6325805"/>
                <a:ext cx="73914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43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57955" y="4031657"/>
            <a:ext cx="312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standard deviation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93236" y="3980039"/>
            <a:ext cx="434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Box plot of standard deviations 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3" name="Picture 3" descr="C:\Delwar\chewing strength\pilot_data\delwar\flex\flex_bo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777" y="1668936"/>
            <a:ext cx="3076943" cy="230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Delwar\chewing strength\pilot_data\delwar\flex\std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76" y="1685035"/>
            <a:ext cx="30861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038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Flex ANOVA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5440363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Mean of standard deviation is equal for each fruit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At least one mean are different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3400" y="1447800"/>
                <a:ext cx="4572000" cy="1210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P-value=5.918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𝟒𝟑</m:t>
                        </m:r>
                      </m:sup>
                    </m:sSup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𝒐</m:t>
                        </m:r>
                      </m:sub>
                    </m:sSub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𝒇𝒐𝒓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𝒂𝒏𝒚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difference between the groups.</a:t>
                </a:r>
              </a:p>
              <a:p>
                <a:endParaRPr lang="en-US" b="1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447800"/>
                <a:ext cx="4572000" cy="1210652"/>
              </a:xfrm>
              <a:prstGeom prst="rect">
                <a:avLst/>
              </a:prstGeom>
              <a:blipFill rotWithShape="1">
                <a:blip r:embed="rId2"/>
                <a:stretch>
                  <a:fillRect l="-1200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524041"/>
              </p:ext>
            </p:extLst>
          </p:nvPr>
        </p:nvGraphicFramePr>
        <p:xfrm>
          <a:off x="4191000" y="3352800"/>
          <a:ext cx="4419600" cy="164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711200"/>
                <a:gridCol w="762000"/>
                <a:gridCol w="736600"/>
                <a:gridCol w="736600"/>
                <a:gridCol w="7366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bound of CI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r>
                        <a:rPr lang="en-US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difference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 bound of CI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0.0248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0.0361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.0474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0.0946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0.1059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0.1171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0.0585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0.0698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0.0811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4968" y="55626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P-values are small (less than .01) . Confidence interval do not include zero, also both lower bound and upper bound is positive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Enough evidence to deduce </a:t>
            </a:r>
            <a:r>
              <a:rPr lang="en-US" b="1" dirty="0" err="1" smtClean="0">
                <a:solidFill>
                  <a:srgbClr val="00B050"/>
                </a:solidFill>
              </a:rPr>
              <a:t>Carrot_std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b="1" dirty="0" err="1" smtClean="0">
                <a:solidFill>
                  <a:srgbClr val="00B050"/>
                </a:solidFill>
              </a:rPr>
              <a:t>Apple_std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b="1" dirty="0" err="1" smtClean="0">
                <a:solidFill>
                  <a:srgbClr val="00B050"/>
                </a:solidFill>
              </a:rPr>
              <a:t>Banana_std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3400" y="2819400"/>
            <a:ext cx="81889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can perform multiple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comparison(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kramer-tukey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which group differs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C:\Delwar\chewing strength\pilot_data\delwar\flex\ano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215" y="1054241"/>
            <a:ext cx="3810000" cy="160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Delwar\chewing strength\pilot_data\delwar\flex\comp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20951"/>
            <a:ext cx="28194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530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Strain Sensor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73088"/>
            <a:ext cx="83820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was normalized between [0,1]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5 chews of each bite for different food was truncated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  bites from 4 participant.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Observation ( standard deviation)=39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Carrot and Apple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Carrot and Banana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Apple and Banana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91611" y="6215659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Normalized strain sensor response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57800" y="6425697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Truncated first five chews for a bite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1" name="Picture 3" descr="C:\Delwar\chewing strength\pilot_data\delwar\strain\che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712490"/>
            <a:ext cx="32766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Delwar\chewing strength\pilot_data\delwar\strain\nor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11" y="3826790"/>
            <a:ext cx="29718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900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Strain Sensor Test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5364163"/>
          </a:xfrm>
        </p:spPr>
        <p:txBody>
          <a:bodyPr>
            <a:norm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Test between Carrot and Apple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 Standard deviation for carrot and apple is same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 Carrot has higher standard deviation than apple.</a:t>
            </a: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173406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12.2150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4.9718e-15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91.3622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1.8984e-46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15.6734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1.7808e-18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173406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12.2150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4.9718e-15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140984" b="-188525"/>
                          </a:stretch>
                        </a:blipFill>
                      </a:tcPr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91.3622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1.8984e-46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272222" b="-11296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15.6734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1.7808e-18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32950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295400" y="6325805"/>
                <a:ext cx="739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50"/>
                    </a:solidFill>
                  </a:rPr>
                  <a:t>Enough evidence for all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</a:rPr>
                  <a:t>, 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Carrot_std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Apple_std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Banana_std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 </a:t>
                </a:r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6325805"/>
                <a:ext cx="73914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43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57955" y="4031657"/>
            <a:ext cx="312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standard deviation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93236" y="3980039"/>
            <a:ext cx="434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Box plot of standard deviations 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:\Delwar\chewing strength\pilot_data\delwar\strain\st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55" y="1708364"/>
            <a:ext cx="29718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Delwar\chewing strength\pilot_data\delwar\strain\box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255" y="1600200"/>
            <a:ext cx="3059249" cy="229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928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Strain ANOVA Analysis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153400" cy="5440363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Mean of standard deviation is equal for each fruit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At least one mean are different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3400" y="1447800"/>
                <a:ext cx="4572000" cy="1210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P-value=4.039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𝟔𝟎</m:t>
                        </m:r>
                      </m:sup>
                    </m:sSup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𝒐</m:t>
                        </m:r>
                      </m:sub>
                    </m:sSub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𝒇𝒐𝒓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𝒂𝒏𝒚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  <a:p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difference between the groups.</a:t>
                </a:r>
              </a:p>
              <a:p>
                <a:endParaRPr lang="en-US" b="1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447800"/>
                <a:ext cx="4572000" cy="1210652"/>
              </a:xfrm>
              <a:prstGeom prst="rect">
                <a:avLst/>
              </a:prstGeom>
              <a:blipFill rotWithShape="1">
                <a:blip r:embed="rId2"/>
                <a:stretch>
                  <a:fillRect l="-1200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18849"/>
              </p:ext>
            </p:extLst>
          </p:nvPr>
        </p:nvGraphicFramePr>
        <p:xfrm>
          <a:off x="4191000" y="3352800"/>
          <a:ext cx="4419600" cy="164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711200"/>
                <a:gridCol w="762000"/>
                <a:gridCol w="736600"/>
                <a:gridCol w="736600"/>
                <a:gridCol w="7366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bound of CI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r>
                        <a:rPr lang="en-US" sz="12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difference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 bound of CI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0.0472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0.0558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.0644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0.1136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0.1222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0.1308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345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Banana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0.0578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0.0750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4968" y="55626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P-values are small (less than .01) . Confidence interval do not include zero, also both lower bound and upper bound is positive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Enough evidence to deduce </a:t>
            </a:r>
            <a:r>
              <a:rPr lang="en-US" b="1" dirty="0" err="1" smtClean="0">
                <a:solidFill>
                  <a:srgbClr val="00B050"/>
                </a:solidFill>
              </a:rPr>
              <a:t>Carrot_std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b="1" dirty="0" err="1" smtClean="0">
                <a:solidFill>
                  <a:srgbClr val="00B050"/>
                </a:solidFill>
              </a:rPr>
              <a:t>Apple_std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b="1" dirty="0" err="1" smtClean="0">
                <a:solidFill>
                  <a:srgbClr val="00B050"/>
                </a:solidFill>
              </a:rPr>
              <a:t>Banana_std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3400" y="2819400"/>
            <a:ext cx="81889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can perform multiple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comparison(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kramer-tukey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which group differs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C:\Delwar\chewing strength\pilot_data\delwar\strain\ano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047659"/>
            <a:ext cx="395287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Delwar\chewing strength\pilot_data\delwar\strain\comp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88732"/>
            <a:ext cx="29464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642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2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820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was normalized between [0,1]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5 chews of each bite for different food was truncated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  bites from 4 participant.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Observation ( standard deviation)=39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Carrot and Apple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Carrot and Banana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Apple and Banana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91611" y="6215659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Normalized pressure sensor response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57800" y="6425697"/>
            <a:ext cx="365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Truncated first five chews for a bite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C:\Delwar\chewing strength\pilot_data\delwar\prssure\norm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20122"/>
            <a:ext cx="4535124" cy="239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C:\Delwar\chewing strength\pilot_data\delwar\prssure\ch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583" y="3697535"/>
            <a:ext cx="3139024" cy="235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259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 Test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5364163"/>
          </a:xfrm>
        </p:spPr>
        <p:txBody>
          <a:bodyPr>
            <a:norm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Test between Carrot and Apple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Hypothesis:  Standard deviation for carrot and apple is same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 Carrot has higher standard deviation than apple.</a:t>
            </a: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65427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4.8895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9.3683e-06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6.4007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8.0414e-08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17.8399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2.3101e-20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 smtClean="0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for all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oMath>
                          </a14:m>
                          <a:endParaRPr lang="en-US" sz="1400" dirty="0">
                            <a:solidFill>
                              <a:srgbClr val="00B05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765427"/>
                  </p:ext>
                </p:extLst>
              </p:nvPr>
            </p:nvGraphicFramePr>
            <p:xfrm>
              <a:off x="609600" y="4572000"/>
              <a:ext cx="8077200" cy="1590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371600"/>
                    <a:gridCol w="1295400"/>
                    <a:gridCol w="1295400"/>
                    <a:gridCol w="1066800"/>
                    <a:gridCol w="1600200"/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Comparison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Null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Alternative Hypothesis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t_stat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P-Value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Interpretation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Apple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4.8895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9.3683e-06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140984" b="-188525"/>
                          </a:stretch>
                        </a:blipFill>
                      </a:tcPr>
                    </a:tc>
                  </a:tr>
                  <a:tr h="33020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Carrot_std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6.4007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8.0414e-08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272222" b="-11296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Apple, Banana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Apple_std</a:t>
                          </a:r>
                          <a:r>
                            <a:rPr lang="en-US" sz="9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US" sz="90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Banana_std</a:t>
                          </a:r>
                          <a:endParaRPr lang="en-US" sz="9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17.8399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2.3101e-20</a:t>
                          </a:r>
                          <a:endParaRPr 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5725" t="-32950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295400" y="6325805"/>
                <a:ext cx="739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50"/>
                    </a:solidFill>
                  </a:rPr>
                  <a:t>Enough evidence for all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𝜶</m:t>
                    </m:r>
                  </m:oMath>
                </a14:m>
                <a:r>
                  <a:rPr lang="en-US" b="1" dirty="0" smtClean="0">
                    <a:solidFill>
                      <a:srgbClr val="00B050"/>
                    </a:solidFill>
                  </a:rPr>
                  <a:t>, 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Carrot_std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Apple_std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&gt;</a:t>
                </a:r>
                <a:r>
                  <a:rPr lang="en-US" b="1" dirty="0" err="1" smtClean="0">
                    <a:solidFill>
                      <a:srgbClr val="00B050"/>
                    </a:solidFill>
                  </a:rPr>
                  <a:t>Banana_std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 </a:t>
                </a:r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6325805"/>
                <a:ext cx="73914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43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57955" y="4031657"/>
            <a:ext cx="312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standard deviation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93236" y="3980039"/>
            <a:ext cx="434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Figure: Box plot of standard deviations   for different food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7" name="Picture 3" descr="C:\Delwar\chewing strength\pilot_data\delwar\prssure\st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955" y="1681220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:\Delwar\chewing strength\pilot_data\delwar\prssure\box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535" y="1664841"/>
            <a:ext cx="3008103" cy="225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69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1671</Words>
  <Application>Microsoft Office PowerPoint</Application>
  <PresentationFormat>On-screen Show (4:3)</PresentationFormat>
  <Paragraphs>439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Data for Pressure Head (3.5mm) Validation</vt:lpstr>
      <vt:lpstr>ANOVA (Single Factor)</vt:lpstr>
      <vt:lpstr>Chewing Strength Study</vt:lpstr>
      <vt:lpstr>Hardness Measurement</vt:lpstr>
      <vt:lpstr>ANOVA Analysis for measured Hardness (Apple)</vt:lpstr>
      <vt:lpstr>ANOVA Analysis for measured Hardness (Carrot)</vt:lpstr>
      <vt:lpstr>ANOVA Analysis for measured  Hardness (Banana)</vt:lpstr>
      <vt:lpstr>EMG Sensor</vt:lpstr>
      <vt:lpstr>EMG Test</vt:lpstr>
      <vt:lpstr>EMG ANOVA Analysis</vt:lpstr>
      <vt:lpstr>Flex Sensor</vt:lpstr>
      <vt:lpstr>Flex Sensor Test</vt:lpstr>
      <vt:lpstr>Flex ANOVA Analysis</vt:lpstr>
      <vt:lpstr>Strain Sensor</vt:lpstr>
      <vt:lpstr>Strain Sensor Test</vt:lpstr>
      <vt:lpstr>Strain ANOVA Analysis</vt:lpstr>
      <vt:lpstr>Pressure Sensor</vt:lpstr>
      <vt:lpstr>Pressure Sensor Test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Student1</dc:creator>
  <cp:lastModifiedBy>Student1</cp:lastModifiedBy>
  <cp:revision>35</cp:revision>
  <dcterms:created xsi:type="dcterms:W3CDTF">2006-08-16T00:00:00Z</dcterms:created>
  <dcterms:modified xsi:type="dcterms:W3CDTF">2018-04-30T19:22:08Z</dcterms:modified>
</cp:coreProperties>
</file>